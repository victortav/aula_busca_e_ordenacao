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66360" y="0"/>
            <a:ext cx="10972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6" name="Rectangle 5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1A2E"/>
                </a:solidFill>
                <a:latin typeface="Trebuchet MS"/>
              </a:rPr>
              <a:t>CURSO TÉCNICO DE PROGRAMAÇÃO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ALGORITMOS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Trebuchet MS"/>
              </a:rPr>
              <a:t>DE BUSCA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4D8"/>
                </a:solidFill>
                <a:latin typeface="Trebuchet MS"/>
              </a:rPr>
              <a:t>ORDENAÇÃO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A0CCE8"/>
                </a:solidFill>
                <a:latin typeface="Calibri"/>
              </a:rPr>
              <a:t>Do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conceito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ao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código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— o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você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vai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usar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na</a:t>
            </a:r>
            <a:r>
              <a:rPr sz="1400" b="0" i="1" dirty="0">
                <a:solidFill>
                  <a:srgbClr val="A0CCE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A0CCE8"/>
                </a:solidFill>
                <a:latin typeface="Calibri"/>
              </a:rPr>
              <a:t>prática</a:t>
            </a:r>
            <a:endParaRPr sz="1400" b="0" i="1" dirty="0">
              <a:solidFill>
                <a:srgbClr val="A0CCE8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4617720"/>
            <a:ext cx="5303520" cy="5257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B8D0"/>
                </a:solidFill>
                <a:latin typeface="Calibri"/>
              </a:rPr>
              <a:t>Aula de 40 min   ·  IFPB — 2026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AB634F1-D458-951D-79F1-B9944FD76EFF}"/>
              </a:ext>
            </a:extLst>
          </p:cNvPr>
          <p:cNvSpPr txBox="1"/>
          <p:nvPr/>
        </p:nvSpPr>
        <p:spPr>
          <a:xfrm>
            <a:off x="5458968" y="2432304"/>
            <a:ext cx="3517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Prof. Victor Tavares</a:t>
            </a:r>
            <a:endParaRPr b="1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203745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37216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INTRODUÇÃO  ·  Por que isso importa?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1A2E"/>
                </a:solidFill>
                <a:latin typeface="Trebuchet MS"/>
              </a:rPr>
              <a:t>Imagine este problema...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931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393192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3327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rebuchet MS"/>
              </a:rPr>
              <a:t>📋  Lista de chamada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500 alunos em ordem aleatória.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Professor precisa achar "Maria Silva".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⏱  Quanto tempo leva?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05840"/>
            <a:ext cx="40690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03327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rebuchet MS"/>
              </a:rPr>
              <a:t>📚  Lista em ordem alfabética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41732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Mesmos 500 alunos — ordenados.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Vai direto para a letra "M".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⚡  Até 100× mais rápido!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👉  Ordenar e buscar dados é uma das tarefas mais comuns em qualquer sistema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64992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61A2E"/>
                </a:solidFill>
                <a:latin typeface="Calibri"/>
              </a:rPr>
              <a:t>Exemplos do dia a dia do dev: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  Ordenar resultados por relevância  ·  Pesquisar usuário no banco  ·  Autocompletar  ·  Ranking por preço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44982" y="73152"/>
            <a:ext cx="1499018" cy="643128"/>
          </a:xfrm>
          <a:prstGeom prst="rect">
            <a:avLst/>
          </a:prstGeom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7F14E562-FF51-2872-F1A4-46CEC7156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237744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ROTEIRO  ·  40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O que vamos aprender 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475488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Por que busca e ordenação são cruciais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097280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097280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475488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719072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7393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Busca Linear vs Busca Binária — com analogia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719072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1719072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Calibri"/>
              </a:rPr>
              <a:t>8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40864"/>
            <a:ext cx="475488" cy="43891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340864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39572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Bubble Sort vs Merge Sort — do ingênuo ao eficiente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340864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340864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alibri"/>
              </a:rPr>
              <a:t>10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62656"/>
            <a:ext cx="475488" cy="438912"/>
          </a:xfrm>
          <a:prstGeom prst="rect">
            <a:avLst/>
          </a:prstGeom>
          <a:solidFill>
            <a:srgbClr val="F79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96265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Complexidade de Tempo — leitura rápida do Big 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962656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2962656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961D"/>
                </a:solidFill>
                <a:latin typeface="Calibri"/>
              </a:rPr>
              <a:t>7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84448"/>
            <a:ext cx="475488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58444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3931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Código Python na prática + quadro branco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584448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58444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7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06240"/>
            <a:ext cx="475488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20624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2E"/>
                </a:solidFill>
                <a:latin typeface="Trebuchet M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6110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 que o mercado usa — dica de carreira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206240"/>
            <a:ext cx="1234440" cy="438912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79" y="4206240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Calibri"/>
              </a:rPr>
              <a:t>3 min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A1CACDD9-58A9-FA48-2887-03901C432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05652" y="123482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237744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BUSCA  ·  Linear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2E"/>
                </a:solidFill>
                <a:latin typeface="Trebuchet MS"/>
              </a:rPr>
              <a:t>Busca Linear — o jeito mais simples (e mais lento)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🎲  Analogia: procurar um número numa fila de caixas fechadas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100584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482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1298448"/>
            <a:ext cx="100584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482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298448"/>
            <a:ext cx="100584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0482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298448"/>
            <a:ext cx="100584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0482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298448"/>
            <a:ext cx="1005840" cy="7132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2E"/>
                </a:solidFill>
                <a:latin typeface="Trebuchet M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0482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298448"/>
            <a:ext cx="1005840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298448"/>
            <a:ext cx="1005840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29844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235915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Procurando o 9: verificou 7→2→14→5 antes de achar — percorreu 5 elementos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743200"/>
            <a:ext cx="4389120" cy="198882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743200"/>
            <a:ext cx="4389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834640"/>
            <a:ext cx="4114800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def</a:t>
            </a:r>
            <a:r>
              <a:rPr sz="1150">
                <a:solidFill>
                  <a:srgbClr val="D4D4D4"/>
                </a:solidFill>
                <a:latin typeface="Consolas"/>
              </a:rPr>
              <a:t> busca_linear(lista, alvo):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for</a:t>
            </a:r>
            <a:r>
              <a:rPr sz="1150">
                <a:solidFill>
                  <a:srgbClr val="D4D4D4"/>
                </a:solidFill>
                <a:latin typeface="Consolas"/>
              </a:rPr>
              <a:t> i, valor </a:t>
            </a:r>
            <a:r>
              <a:rPr sz="1150">
                <a:solidFill>
                  <a:srgbClr val="569CD6"/>
                </a:solidFill>
                <a:latin typeface="Consolas"/>
              </a:rPr>
              <a:t>in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CDCAA"/>
                </a:solidFill>
                <a:latin typeface="Consolas"/>
              </a:rPr>
              <a:t>enumerate</a:t>
            </a:r>
            <a:r>
              <a:rPr sz="1150">
                <a:solidFill>
                  <a:srgbClr val="D4D4D4"/>
                </a:solidFill>
                <a:latin typeface="Consolas"/>
              </a:rPr>
              <a:t>(lista):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A8FF78"/>
                </a:solidFill>
                <a:latin typeface="Consolas"/>
              </a:rPr>
              <a:t>        if valor == alvo: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A8FF78"/>
                </a:solidFill>
                <a:latin typeface="Consolas"/>
              </a:rPr>
              <a:t>            return i       # índice encontrado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-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  </a:t>
            </a:r>
            <a:r>
              <a:rPr sz="1150">
                <a:solidFill>
                  <a:srgbClr val="6A9955"/>
                </a:solidFill>
                <a:latin typeface="Consolas"/>
              </a:rPr>
              <a:t># não encontrado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743200"/>
            <a:ext cx="3886200" cy="19888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37760" y="2743200"/>
            <a:ext cx="91440" cy="19888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4920" y="2816352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Trebuchet MS"/>
              </a:rPr>
              <a:t>Complexidade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127248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 err="1">
                <a:solidFill>
                  <a:srgbClr val="06D6A0"/>
                </a:solidFill>
                <a:latin typeface="Calibri"/>
              </a:rPr>
              <a:t>Melhor</a:t>
            </a:r>
            <a:r>
              <a:rPr sz="1200" b="1" dirty="0">
                <a:solidFill>
                  <a:srgbClr val="06D6A0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06D6A0"/>
                </a:solidFill>
                <a:latin typeface="Calibri"/>
              </a:rPr>
              <a:t>caso</a:t>
            </a:r>
            <a:r>
              <a:rPr sz="1200" b="1" dirty="0">
                <a:solidFill>
                  <a:srgbClr val="06D6A0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O(1) —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achou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na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1ª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posição</a:t>
            </a:r>
            <a:endParaRPr sz="1200" b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1" dirty="0" err="1">
                <a:solidFill>
                  <a:srgbClr val="F7961D"/>
                </a:solidFill>
                <a:latin typeface="Calibri"/>
              </a:rPr>
              <a:t>Pior</a:t>
            </a:r>
            <a:r>
              <a:rPr sz="1200" b="1" dirty="0">
                <a:solidFill>
                  <a:srgbClr val="F7961D"/>
                </a:solidFill>
                <a:latin typeface="Calibri"/>
              </a:rPr>
              <a:t> / </a:t>
            </a:r>
            <a:r>
              <a:rPr sz="1200" b="1" dirty="0" err="1">
                <a:solidFill>
                  <a:srgbClr val="F7961D"/>
                </a:solidFill>
                <a:latin typeface="Calibri"/>
              </a:rPr>
              <a:t>médio</a:t>
            </a:r>
            <a:r>
              <a:rPr sz="1200" b="1" dirty="0">
                <a:solidFill>
                  <a:srgbClr val="F7961D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7961D"/>
                </a:solidFill>
                <a:latin typeface="Calibri"/>
              </a:rPr>
              <a:t>caso</a:t>
            </a:r>
            <a:r>
              <a:rPr sz="1200" b="1" dirty="0">
                <a:solidFill>
                  <a:srgbClr val="F7961D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O(n) —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percorre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toda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lista</a:t>
            </a:r>
            <a:endParaRPr sz="1200" b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0B4D8"/>
                </a:solidFill>
                <a:latin typeface="Calibri"/>
              </a:rPr>
              <a:t>Quando usar: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Lista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pequena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ou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ordenada</a:t>
            </a:r>
            <a:endParaRPr sz="1200" b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B9FD8E3B-FA7E-FAA3-18A1-7CEF8031F6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237744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BUSCA  ·  Binary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2E"/>
                </a:solidFill>
                <a:latin typeface="Trebuchet MS"/>
              </a:rPr>
              <a:t>Busca Binária — o salto quântico de eficiência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📖  Analogia: como você procura uma palavra no dicionário?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298448"/>
            <a:ext cx="1005840" cy="6217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298448"/>
            <a:ext cx="1005840" cy="62179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129844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2E"/>
                </a:solidFill>
                <a:latin typeface="Trebuchet M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1956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  <a:latin typeface="Calibri"/>
              </a:rPr>
              <a:t>Meio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26771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Alvo = 14 &gt; 9  →  descarta metade esquerda  →  próxima busca: {11, 14, 18}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33472"/>
            <a:ext cx="4572000" cy="233172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633472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724912"/>
            <a:ext cx="4297680" cy="21671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def</a:t>
            </a:r>
            <a:r>
              <a:rPr sz="1150">
                <a:solidFill>
                  <a:srgbClr val="D4D4D4"/>
                </a:solidFill>
                <a:latin typeface="Consolas"/>
              </a:rPr>
              <a:t> busca_binaria(lista, alvo):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esq, dir = </a:t>
            </a:r>
            <a:r>
              <a:rPr sz="1150">
                <a:solidFill>
                  <a:srgbClr val="B5CEA8"/>
                </a:solidFill>
                <a:latin typeface="Consolas"/>
              </a:rPr>
              <a:t>0</a:t>
            </a:r>
            <a:r>
              <a:rPr sz="1150">
                <a:solidFill>
                  <a:srgbClr val="D4D4D4"/>
                </a:solidFill>
                <a:latin typeface="Consolas"/>
              </a:rPr>
              <a:t>, </a:t>
            </a:r>
            <a:r>
              <a:rPr sz="1150">
                <a:solidFill>
                  <a:srgbClr val="DCDCAA"/>
                </a:solidFill>
                <a:latin typeface="Consolas"/>
              </a:rPr>
              <a:t>len</a:t>
            </a:r>
            <a:r>
              <a:rPr sz="1150">
                <a:solidFill>
                  <a:srgbClr val="D4D4D4"/>
                </a:solidFill>
                <a:latin typeface="Consolas"/>
              </a:rPr>
              <a:t>(lista) -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while</a:t>
            </a:r>
            <a:r>
              <a:rPr sz="1150">
                <a:solidFill>
                  <a:srgbClr val="D4D4D4"/>
                </a:solidFill>
                <a:latin typeface="Consolas"/>
              </a:rPr>
              <a:t> esq &lt;= dir: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meio = (esq + dir) // </a:t>
            </a:r>
            <a:r>
              <a:rPr sz="1150">
                <a:solidFill>
                  <a:srgbClr val="B5CEA8"/>
                </a:solidFill>
                <a:latin typeface="Consolas"/>
              </a:rPr>
              <a:t>2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lista[meio] == alvo: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meio         </a:t>
            </a:r>
            <a:r>
              <a:rPr sz="1150">
                <a:solidFill>
                  <a:srgbClr val="6A9955"/>
                </a:solidFill>
                <a:latin typeface="Consolas"/>
              </a:rPr>
              <a:t># ✅ encontrado!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elif</a:t>
            </a:r>
            <a:r>
              <a:rPr sz="1150">
                <a:solidFill>
                  <a:srgbClr val="D4D4D4"/>
                </a:solidFill>
                <a:latin typeface="Consolas"/>
              </a:rPr>
              <a:t> lista[meio] &lt; alvo: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esq = meio +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      </a:t>
            </a:r>
            <a:r>
              <a:rPr sz="1150">
                <a:solidFill>
                  <a:srgbClr val="6A9955"/>
                </a:solidFill>
                <a:latin typeface="Consolas"/>
              </a:rPr>
              <a:t># descarta esquerda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else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dir = meio -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      </a:t>
            </a:r>
            <a:r>
              <a:rPr sz="1150">
                <a:solidFill>
                  <a:srgbClr val="6A9955"/>
                </a:solidFill>
                <a:latin typeface="Consolas"/>
              </a:rPr>
              <a:t># descarta direita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-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633472"/>
            <a:ext cx="3749039" cy="2331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74920" y="2633472"/>
            <a:ext cx="45720" cy="2331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0" y="27066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Trebuchet MS"/>
              </a:rPr>
              <a:t>Por que é tão rápido?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3520439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06D6A0"/>
                </a:solidFill>
                <a:latin typeface="Calibri"/>
              </a:rPr>
              <a:t>O(log n)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1.000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itens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máx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. 10 comp.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1.000.000 →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máx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. 20 comp.!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7961D"/>
                </a:solidFill>
                <a:latin typeface="Calibri"/>
              </a:rPr>
              <a:t>Pré-</a:t>
            </a:r>
            <a:r>
              <a:rPr sz="1200" b="1" dirty="0" err="1">
                <a:solidFill>
                  <a:srgbClr val="F7961D"/>
                </a:solidFill>
                <a:latin typeface="Calibri"/>
              </a:rPr>
              <a:t>requisito</a:t>
            </a:r>
            <a:r>
              <a:rPr sz="1200" b="1" dirty="0">
                <a:solidFill>
                  <a:srgbClr val="F7961D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Lista ORDENADA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0B4D8"/>
                </a:solidFill>
                <a:latin typeface="Calibri"/>
              </a:rPr>
              <a:t>Na </a:t>
            </a:r>
            <a:r>
              <a:rPr sz="1200" b="1" dirty="0" err="1">
                <a:solidFill>
                  <a:srgbClr val="00B4D8"/>
                </a:solidFill>
                <a:latin typeface="Calibri"/>
              </a:rPr>
              <a:t>prática</a:t>
            </a:r>
            <a:r>
              <a:rPr sz="1200" b="1" dirty="0">
                <a:solidFill>
                  <a:srgbClr val="00B4D8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DCDCAA"/>
                </a:solidFill>
                <a:latin typeface="Calibri"/>
              </a:rPr>
              <a:t>  Python: </a:t>
            </a:r>
            <a:r>
              <a:rPr sz="1200" b="0" dirty="0" err="1">
                <a:solidFill>
                  <a:srgbClr val="DCDCAA"/>
                </a:solidFill>
                <a:latin typeface="Calibri"/>
              </a:rPr>
              <a:t>bisect.bisect_left</a:t>
            </a:r>
            <a:r>
              <a:rPr sz="1200" b="0" dirty="0">
                <a:solidFill>
                  <a:srgbClr val="DCDCAA"/>
                </a:solidFill>
                <a:latin typeface="Calibri"/>
              </a:rPr>
              <a:t>()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DCDCAA"/>
                </a:solidFill>
                <a:latin typeface="Calibri"/>
              </a:rPr>
              <a:t>  Java: </a:t>
            </a:r>
            <a:r>
              <a:rPr sz="1200" b="0" dirty="0" err="1">
                <a:solidFill>
                  <a:srgbClr val="DCDCAA"/>
                </a:solidFill>
                <a:latin typeface="Calibri"/>
              </a:rPr>
              <a:t>Arrays.binarySearch</a:t>
            </a:r>
            <a:r>
              <a:rPr sz="1200" b="0" dirty="0">
                <a:solidFill>
                  <a:srgbClr val="DCDCAA"/>
                </a:solidFill>
                <a:latin typeface="Calibri"/>
              </a:rPr>
              <a:t>()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6E599D13-73F6-B597-79ED-16F410FA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97764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4178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ORDENAÇÃO  ·  Bubble Sort — o ingênuo (mas didático)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1A2E"/>
                </a:solidFill>
                <a:latin typeface="Trebuchet MS"/>
              </a:rPr>
              <a:t>Bubble Sort — entendendo o problema antes da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961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🫧  Analogia: bolhas subindo — números maiores 'flutuam' para o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Original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1536192"/>
            <a:ext cx="420624" cy="5303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0784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0784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1" y="1261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Passo 1 (8↑)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591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0591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79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79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1536192"/>
            <a:ext cx="420624" cy="5303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1568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77056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77056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1261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Passo 2 (5↑)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6864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4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02352" y="1536192"/>
            <a:ext cx="42062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2352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536192"/>
            <a:ext cx="420624" cy="5303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77840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7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53327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1261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Ordenado! 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03136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03136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8623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78623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54112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54112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536192"/>
            <a:ext cx="420624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1536192"/>
            <a:ext cx="420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212848"/>
            <a:ext cx="5082922" cy="2292838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2212848"/>
            <a:ext cx="5082922" cy="4571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2304288"/>
            <a:ext cx="42976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 dirty="0">
                <a:solidFill>
                  <a:srgbClr val="569CD6"/>
                </a:solidFill>
                <a:latin typeface="Consolas"/>
              </a:rPr>
              <a:t>def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bubble_sort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n = </a:t>
            </a:r>
            <a:r>
              <a:rPr sz="1150" dirty="0" err="1">
                <a:solidFill>
                  <a:srgbClr val="DCDCAA"/>
                </a:solidFill>
                <a:latin typeface="Consolas"/>
              </a:rPr>
              <a:t>len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in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>
                <a:solidFill>
                  <a:srgbClr val="DCDCAA"/>
                </a:solidFill>
                <a:latin typeface="Consolas"/>
              </a:rPr>
              <a:t>range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(n):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j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in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>
                <a:solidFill>
                  <a:srgbClr val="DCDCAA"/>
                </a:solidFill>
                <a:latin typeface="Consolas"/>
              </a:rPr>
              <a:t>range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0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, n -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i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1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if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[j] &gt;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[j+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1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]: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6A9955"/>
                </a:solidFill>
                <a:latin typeface="Consolas"/>
              </a:rPr>
              <a:t>                # </a:t>
            </a:r>
            <a:r>
              <a:rPr sz="1150" dirty="0" err="1">
                <a:solidFill>
                  <a:srgbClr val="6A9955"/>
                </a:solidFill>
                <a:latin typeface="Consolas"/>
              </a:rPr>
              <a:t>troca</a:t>
            </a:r>
            <a:r>
              <a:rPr sz="1150" dirty="0">
                <a:solidFill>
                  <a:srgbClr val="6A9955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6A9955"/>
                </a:solidFill>
                <a:latin typeface="Consolas"/>
              </a:rPr>
              <a:t>os</a:t>
            </a:r>
            <a:r>
              <a:rPr sz="1150" dirty="0">
                <a:solidFill>
                  <a:srgbClr val="6A9955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6A9955"/>
                </a:solidFill>
                <a:latin typeface="Consolas"/>
              </a:rPr>
              <a:t>elementos</a:t>
            </a:r>
            <a:endParaRPr sz="1150" dirty="0">
              <a:solidFill>
                <a:srgbClr val="6A9955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           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[j],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[j+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1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[j+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1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],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[j]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endParaRPr sz="115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522976" y="2212848"/>
            <a:ext cx="3300983" cy="229283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448682" y="2206010"/>
            <a:ext cx="74294" cy="229283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38280" y="2286000"/>
            <a:ext cx="3139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Trebuchet MS"/>
              </a:rPr>
              <a:t>⚠️  Por que NÃO usar em produção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2816" y="2596896"/>
            <a:ext cx="3099703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EF476F"/>
                </a:solidFill>
                <a:latin typeface="Calibri"/>
              </a:rPr>
              <a:t>O(n²)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10.000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itens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→ 100M compar. 😱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FC300"/>
                </a:solidFill>
                <a:latin typeface="Calibri"/>
              </a:rPr>
              <a:t>Use para: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Aprendizado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e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entrevistas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  NUNCA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dados reais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grandes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" y="4645152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1" dirty="0">
                <a:solidFill>
                  <a:srgbClr val="1C7293"/>
                </a:solidFill>
                <a:latin typeface="Calibri"/>
              </a:rPr>
              <a:t>💡 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Entender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o Bubble Sort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revela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POR QUÊ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algoritmos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melhores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existem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.</a:t>
            </a:r>
          </a:p>
        </p:txBody>
      </p:sp>
      <p:pic>
        <p:nvPicPr>
          <p:cNvPr id="52" name="Picture 4">
            <a:extLst>
              <a:ext uri="{FF2B5EF4-FFF2-40B4-BE49-F238E27FC236}">
                <a16:creationId xmlns:a16="http://schemas.microsoft.com/office/drawing/2014/main" id="{9D037475-A1A3-97A6-7618-B2B0336D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941064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1" y="82296"/>
            <a:ext cx="44167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ORDENAÇÃO  ·  Merge Sort — dividir para conquistar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2E"/>
                </a:solidFill>
                <a:latin typeface="Trebuchet MS"/>
              </a:rPr>
              <a:t>Merge Sort — a estratégia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961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🃏  Analogia: embaralhou dois baralhos já ordenados — é fácil intercalá-los!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280160"/>
            <a:ext cx="239572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502" y="1880263"/>
            <a:ext cx="1243584" cy="384048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502" y="188026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88026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5598" y="188026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1886786"/>
            <a:ext cx="1243584" cy="384048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188678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188678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188678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502" y="2538631"/>
            <a:ext cx="475488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502" y="25386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2174" y="2538631"/>
            <a:ext cx="859536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92174" y="25386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6222" y="25386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2545154"/>
            <a:ext cx="475488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93008" y="254515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545154"/>
            <a:ext cx="859536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0" y="254515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2615" y="191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209" y="3797102"/>
            <a:ext cx="239572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01209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5257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9305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53353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7401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1449" y="379710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4892" y="194455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⬇ divide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4892" y="258089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⬇ divide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154" y="337183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06D6A0"/>
                </a:solidFill>
                <a:latin typeface="Calibri"/>
              </a:rPr>
              <a:t>⬆ merge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02614" y="1291719"/>
            <a:ext cx="3376905" cy="210312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02614" y="1255143"/>
            <a:ext cx="337690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39775" y="1346583"/>
            <a:ext cx="3291286" cy="1408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 dirty="0">
                <a:solidFill>
                  <a:srgbClr val="569CD6"/>
                </a:solidFill>
                <a:latin typeface="Consolas"/>
              </a:rPr>
              <a:t>def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merge_sort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if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CDCAA"/>
                </a:solidFill>
                <a:latin typeface="Consolas"/>
              </a:rPr>
              <a:t>len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 &lt;= 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1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endParaRPr sz="1150" dirty="0">
              <a:solidFill>
                <a:srgbClr val="D4D4D4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meio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150" dirty="0" err="1">
                <a:solidFill>
                  <a:srgbClr val="DCDCAA"/>
                </a:solidFill>
                <a:latin typeface="Consolas"/>
              </a:rPr>
              <a:t>len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 // </a:t>
            </a:r>
            <a:r>
              <a:rPr sz="1150" dirty="0">
                <a:solidFill>
                  <a:srgbClr val="B5CEA8"/>
                </a:solidFill>
                <a:latin typeface="Consolas"/>
              </a:rPr>
              <a:t>2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esq =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merge_sort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[: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meio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dir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merge_sort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(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lista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[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meio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:])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15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 merge(esq, </a:t>
            </a:r>
            <a:r>
              <a:rPr sz="1150" dirty="0" err="1">
                <a:solidFill>
                  <a:srgbClr val="D4D4D4"/>
                </a:solidFill>
                <a:latin typeface="Consolas"/>
              </a:rPr>
              <a:t>dir</a:t>
            </a:r>
            <a:r>
              <a:rPr sz="1150" dirty="0">
                <a:solidFill>
                  <a:srgbClr val="D4D4D4"/>
                </a:solidFill>
                <a:latin typeface="Consolas"/>
              </a:rPr>
              <a:t>) </a:t>
            </a:r>
            <a:r>
              <a:rPr sz="1150" dirty="0">
                <a:solidFill>
                  <a:srgbClr val="6A9955"/>
                </a:solidFill>
                <a:latin typeface="Consolas"/>
              </a:rPr>
              <a:t># </a:t>
            </a:r>
            <a:r>
              <a:rPr sz="1150" dirty="0" err="1">
                <a:solidFill>
                  <a:srgbClr val="6A9955"/>
                </a:solidFill>
                <a:latin typeface="Consolas"/>
              </a:rPr>
              <a:t>intercala</a:t>
            </a:r>
            <a:endParaRPr sz="1150" dirty="0">
              <a:solidFill>
                <a:srgbClr val="6A9955"/>
              </a:solidFill>
              <a:latin typeface="Consola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02614" y="3449703"/>
            <a:ext cx="3376905" cy="640080"/>
          </a:xfrm>
          <a:prstGeom prst="rect">
            <a:avLst/>
          </a:prstGeom>
          <a:solidFill>
            <a:srgbClr val="06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39774" y="3541143"/>
            <a:ext cx="3139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✅  O(n log n)  — Python sorted() usa Timsort, variante do Merge Sort</a:t>
            </a: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B2BCC085-318D-25DB-7D7D-1C082BD6FCC4}"/>
              </a:ext>
            </a:extLst>
          </p:cNvPr>
          <p:cNvSpPr txBox="1"/>
          <p:nvPr/>
        </p:nvSpPr>
        <p:spPr>
          <a:xfrm>
            <a:off x="4686783" y="256715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Rectangle 22">
            <a:extLst>
              <a:ext uri="{FF2B5EF4-FFF2-40B4-BE49-F238E27FC236}">
                <a16:creationId xmlns:a16="http://schemas.microsoft.com/office/drawing/2014/main" id="{2B4607DD-2E29-B380-3AAB-F704BC345CD5}"/>
              </a:ext>
            </a:extLst>
          </p:cNvPr>
          <p:cNvSpPr/>
          <p:nvPr/>
        </p:nvSpPr>
        <p:spPr>
          <a:xfrm>
            <a:off x="1163574" y="3259202"/>
            <a:ext cx="47548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801ED509-ABA5-AF55-13A4-C12275BC5470}"/>
              </a:ext>
            </a:extLst>
          </p:cNvPr>
          <p:cNvSpPr txBox="1"/>
          <p:nvPr/>
        </p:nvSpPr>
        <p:spPr>
          <a:xfrm>
            <a:off x="1200150" y="3288756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FFFFFF"/>
                </a:solidFill>
                <a:latin typeface="Calibri"/>
              </a:rPr>
              <a:t>3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22">
            <a:extLst>
              <a:ext uri="{FF2B5EF4-FFF2-40B4-BE49-F238E27FC236}">
                <a16:creationId xmlns:a16="http://schemas.microsoft.com/office/drawing/2014/main" id="{A2F8A639-655B-4B24-FD5E-0EBBE1D75C38}"/>
              </a:ext>
            </a:extLst>
          </p:cNvPr>
          <p:cNvSpPr/>
          <p:nvPr/>
        </p:nvSpPr>
        <p:spPr>
          <a:xfrm>
            <a:off x="2075688" y="3263293"/>
            <a:ext cx="47548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23">
            <a:extLst>
              <a:ext uri="{FF2B5EF4-FFF2-40B4-BE49-F238E27FC236}">
                <a16:creationId xmlns:a16="http://schemas.microsoft.com/office/drawing/2014/main" id="{BE5A3E86-AD1A-DC18-EE5A-06ABB6AD8173}"/>
              </a:ext>
            </a:extLst>
          </p:cNvPr>
          <p:cNvSpPr txBox="1"/>
          <p:nvPr/>
        </p:nvSpPr>
        <p:spPr>
          <a:xfrm>
            <a:off x="2075688" y="3263293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FFFFFF"/>
                </a:solidFill>
                <a:latin typeface="Calibri"/>
              </a:rPr>
              <a:t>1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7C9B9CAB-F605-7E88-C54F-304C3C56618B}"/>
              </a:ext>
            </a:extLst>
          </p:cNvPr>
          <p:cNvSpPr/>
          <p:nvPr/>
        </p:nvSpPr>
        <p:spPr>
          <a:xfrm>
            <a:off x="4023360" y="3263293"/>
            <a:ext cx="47548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3">
            <a:extLst>
              <a:ext uri="{FF2B5EF4-FFF2-40B4-BE49-F238E27FC236}">
                <a16:creationId xmlns:a16="http://schemas.microsoft.com/office/drawing/2014/main" id="{7BD56005-8CF8-9603-9D66-3BC670406281}"/>
              </a:ext>
            </a:extLst>
          </p:cNvPr>
          <p:cNvSpPr txBox="1"/>
          <p:nvPr/>
        </p:nvSpPr>
        <p:spPr>
          <a:xfrm>
            <a:off x="4023360" y="3263293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FFFFFF"/>
                </a:solidFill>
                <a:latin typeface="Calibri"/>
              </a:rPr>
              <a:t>7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8809CC00-31D1-A6D3-D92F-2AFF040F8CAC}"/>
              </a:ext>
            </a:extLst>
          </p:cNvPr>
          <p:cNvSpPr/>
          <p:nvPr/>
        </p:nvSpPr>
        <p:spPr>
          <a:xfrm>
            <a:off x="4971679" y="3259202"/>
            <a:ext cx="47548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B19A494E-9AAD-6C87-DB20-9F60D7CBB1F4}"/>
              </a:ext>
            </a:extLst>
          </p:cNvPr>
          <p:cNvSpPr txBox="1"/>
          <p:nvPr/>
        </p:nvSpPr>
        <p:spPr>
          <a:xfrm>
            <a:off x="4971679" y="3259202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FFFFFF"/>
                </a:solidFill>
                <a:latin typeface="Calibri"/>
              </a:rPr>
              <a:t>2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9" name="Picture 4">
            <a:extLst>
              <a:ext uri="{FF2B5EF4-FFF2-40B4-BE49-F238E27FC236}">
                <a16:creationId xmlns:a16="http://schemas.microsoft.com/office/drawing/2014/main" id="{3B732F25-7FEE-7F70-1559-721FE301D3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634926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3242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rebuchet MS"/>
              </a:rPr>
              <a:t>COMPLEXIDADE  ·  Leitura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rápida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do Big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Como comparar algoritmos sem nem rodar o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1325880" cy="34747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98755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Trebuchet MS"/>
              </a:rPr>
              <a:t>Notação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987552"/>
            <a:ext cx="1417320" cy="34747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00784" y="9875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Trebuchet MS"/>
              </a:rPr>
              <a:t>Nome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987552"/>
            <a:ext cx="3246120" cy="34747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987552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Trebuchet MS"/>
              </a:rPr>
              <a:t>Exemplo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87552"/>
            <a:ext cx="2011680" cy="34747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9875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Trebuchet MS"/>
              </a:rPr>
              <a:t>n = 1.000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71600"/>
            <a:ext cx="1325880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" y="1435608"/>
            <a:ext cx="12161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chemeClr val="bg2"/>
                </a:solidFill>
                <a:latin typeface="Consolas"/>
              </a:rPr>
              <a:t>O(1)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1371600"/>
            <a:ext cx="14173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00784" y="1435608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Constante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371600"/>
            <a:ext cx="32461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63824" y="1435608"/>
            <a:ext cx="3136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FF"/>
                </a:solidFill>
                <a:latin typeface="Calibri"/>
              </a:rPr>
              <a:t>Acesso em array por índice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201168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143560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1 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847088"/>
            <a:ext cx="1325880" cy="438912"/>
          </a:xfrm>
          <a:prstGeom prst="rect">
            <a:avLst/>
          </a:prstGeom>
          <a:solidFill>
            <a:srgbClr val="06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" y="1911095"/>
            <a:ext cx="12161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chemeClr val="bg2"/>
                </a:solidFill>
                <a:latin typeface="Consolas"/>
              </a:rPr>
              <a:t>O(log 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1847088"/>
            <a:ext cx="14173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00784" y="1911095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Logarítmica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1847088"/>
            <a:ext cx="32461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63824" y="1911095"/>
            <a:ext cx="3136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FF"/>
                </a:solidFill>
                <a:latin typeface="Calibri"/>
              </a:rPr>
              <a:t>Busca Binária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847088"/>
            <a:ext cx="201168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1911095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~10 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22576"/>
            <a:ext cx="1325880" cy="43891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" y="2386584"/>
            <a:ext cx="12161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chemeClr val="bg2"/>
                </a:solidFill>
                <a:latin typeface="Consolas"/>
              </a:rPr>
              <a:t>O(n)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2322576"/>
            <a:ext cx="14173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00784" y="2386584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Linear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322576"/>
            <a:ext cx="32461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63824" y="2386584"/>
            <a:ext cx="3136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FF"/>
                </a:solidFill>
                <a:latin typeface="Calibri"/>
              </a:rPr>
              <a:t>Busca Linear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322576"/>
            <a:ext cx="201168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55664" y="2386584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1.000 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98064"/>
            <a:ext cx="1325880" cy="43891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" y="2862072"/>
            <a:ext cx="12161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chemeClr val="bg2"/>
                </a:solidFill>
                <a:latin typeface="Consolas"/>
              </a:rPr>
              <a:t>O(n log 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0" y="2798064"/>
            <a:ext cx="14173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00784" y="286207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Log-linear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798064"/>
            <a:ext cx="32461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63824" y="2862072"/>
            <a:ext cx="3136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FF"/>
                </a:solidFill>
                <a:latin typeface="Calibri"/>
              </a:rPr>
              <a:t>Merge Sort / Timsort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798064"/>
            <a:ext cx="201168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55664" y="286207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~10.000 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273552"/>
            <a:ext cx="1325880" cy="43891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" y="3337560"/>
            <a:ext cx="12161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chemeClr val="bg2"/>
                </a:solidFill>
                <a:latin typeface="Consolas"/>
              </a:rPr>
              <a:t>O(n²)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3273552"/>
            <a:ext cx="14173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00784" y="3337560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DDFF"/>
                </a:solidFill>
                <a:latin typeface="Calibri"/>
              </a:rPr>
              <a:t>Quadrática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273552"/>
            <a:ext cx="324612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63824" y="3337560"/>
            <a:ext cx="3136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FF"/>
                </a:solidFill>
                <a:latin typeface="Calibri"/>
              </a:rPr>
              <a:t>Bubble Sort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273552"/>
            <a:ext cx="2011680" cy="43891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55664" y="3337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C300"/>
                </a:solidFill>
                <a:latin typeface="Calibri"/>
              </a:rPr>
              <a:t>1.000.000 ops 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470916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💡  Regra prática: prefira O(log n) ou O(n log n) para listas grandes.</a:t>
            </a:r>
          </a:p>
        </p:txBody>
      </p:sp>
      <p:pic>
        <p:nvPicPr>
          <p:cNvPr id="56" name="Picture 4">
            <a:extLst>
              <a:ext uri="{FF2B5EF4-FFF2-40B4-BE49-F238E27FC236}">
                <a16:creationId xmlns:a16="http://schemas.microsoft.com/office/drawing/2014/main" id="{62BE1A7B-2756-E51D-A9F9-A0B877BB7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0175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29014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PRÁTICA  ·  Vamos ao quadro branco!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300"/>
                </a:solidFill>
                <a:latin typeface="Trebuchet MS"/>
              </a:rPr>
              <a:t>🖊️  Exercício em duplas — 5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1261872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6070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onsolas"/>
              </a:rPr>
              <a:t>Dada a lista:   [42, 7, 15, 3, 28, 11, 19]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8046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CCDDFF"/>
                </a:solidFill>
                <a:latin typeface="Calibri"/>
              </a:rPr>
              <a:t>a)  Execute o Bubble Sort — quais trocas ocorrem na 1ª passagem?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DDFF"/>
                </a:solidFill>
                <a:latin typeface="Calibri"/>
              </a:rPr>
              <a:t>b)  Use Busca Binária para encontrar o 19 (após ordenar). Quantas comparações?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84124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590800"/>
            <a:ext cx="8412480" cy="749808"/>
          </a:xfrm>
          <a:prstGeom prst="rect">
            <a:avLst/>
          </a:prstGeom>
          <a:solidFill>
            <a:srgbClr val="06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5310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Trebuchet MS"/>
              </a:rPr>
              <a:t>🔑  Insight: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98826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Ordenar uma vez + Busca Binária = muito mais rápido que buscar repetidamente sem ordem.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5FB65B1C-2C2A-B04C-C7B5-D6F931BB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82078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3747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rebuchet MS"/>
              </a:rPr>
              <a:t>MERCADO  ·  O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que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você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vai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usar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como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desenvolvedor</a:t>
            </a:r>
            <a:endParaRPr sz="1100" b="1" i="0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1A2E"/>
                </a:solidFill>
                <a:latin typeface="Trebuchet MS"/>
              </a:rPr>
              <a:t>Ninguém implementa do zero — mas entender é essencial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411480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0241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0515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sorted() / list.sort()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08176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08176"/>
            <a:ext cx="4572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481328"/>
            <a:ext cx="38862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61A2E"/>
                </a:solidFill>
                <a:latin typeface="Calibri"/>
              </a:rPr>
              <a:t>Algoritmo: Timsort (Merge Sort + Insertion Sort)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In-place: list.sort()  |  Nova lista: sorted()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7293"/>
                </a:solidFill>
                <a:latin typeface="Calibri"/>
              </a:rPr>
              <a:t>Estável ✅  |  O(n log n) garantido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6592" y="987552"/>
            <a:ext cx="4114800" cy="420624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0241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6527" y="1051560"/>
            <a:ext cx="27691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FFFFFF"/>
                </a:solidFill>
                <a:latin typeface="Consolas"/>
              </a:rPr>
              <a:t>Arrays.sort</a:t>
            </a:r>
            <a:r>
              <a:rPr sz="1050" b="0" i="0" dirty="0">
                <a:solidFill>
                  <a:srgbClr val="FFFFFF"/>
                </a:solidFill>
                <a:latin typeface="Consolas"/>
              </a:rPr>
              <a:t>() / </a:t>
            </a:r>
            <a:r>
              <a:rPr sz="1050" b="0" i="0" dirty="0" err="1">
                <a:solidFill>
                  <a:srgbClr val="FFFFFF"/>
                </a:solidFill>
                <a:latin typeface="Consolas"/>
              </a:rPr>
              <a:t>Collections.sort</a:t>
            </a:r>
            <a:r>
              <a:rPr sz="1050" b="0" i="0" dirty="0">
                <a:solidFill>
                  <a:srgbClr val="FFFFFF"/>
                </a:solidFill>
                <a:latin typeface="Consolas"/>
              </a:rPr>
              <a:t>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1408176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30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36592" y="1408176"/>
            <a:ext cx="45720" cy="14630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481328"/>
            <a:ext cx="38862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61A2E"/>
                </a:solidFill>
                <a:latin typeface="Calibri"/>
              </a:rPr>
              <a:t>Primitivos: Dual-Pivot Quicksort (O(n log n) médio)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Objetos: Timsort (estável, O(n log n))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7293"/>
                </a:solidFill>
                <a:latin typeface="Calibri"/>
              </a:rPr>
              <a:t>In-place para arrays  |  Nova lista para Collections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53512"/>
            <a:ext cx="4114800" cy="42062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9900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1824" y="3017520"/>
            <a:ext cx="22915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Consolas"/>
              </a:rPr>
              <a:t>ORDER BY / </a:t>
            </a:r>
            <a:r>
              <a:rPr sz="1050" b="0" i="0" dirty="0" err="1">
                <a:solidFill>
                  <a:srgbClr val="FFFFFF"/>
                </a:solidFill>
                <a:latin typeface="Consolas"/>
              </a:rPr>
              <a:t>índices</a:t>
            </a:r>
            <a:r>
              <a:rPr sz="1050" b="0" i="0" dirty="0">
                <a:solidFill>
                  <a:srgbClr val="FFFFFF"/>
                </a:solidFill>
                <a:latin typeface="Consolas"/>
              </a:rPr>
              <a:t> B-Tree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74136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374136"/>
            <a:ext cx="45720" cy="1463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3447288"/>
            <a:ext cx="38862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61A2E"/>
                </a:solidFill>
                <a:latin typeface="Calibri"/>
              </a:rPr>
              <a:t>Algoritmo: B-Tree para buscas em índice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Busca Binária na árvore — O(log n) por query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7293"/>
                </a:solidFill>
                <a:latin typeface="Calibri"/>
              </a:rPr>
              <a:t>Ordenação: depende do engine (QuickSort/MergeSort)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2953512"/>
            <a:ext cx="4114800" cy="420624"/>
          </a:xfrm>
          <a:prstGeom prst="rect">
            <a:avLst/>
          </a:prstGeom>
          <a:solidFill>
            <a:srgbClr val="F79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29900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Entrevistas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3017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LeetCode / HackerRank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374136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36592" y="3374136"/>
            <a:ext cx="45720" cy="1463040"/>
          </a:xfrm>
          <a:prstGeom prst="rect">
            <a:avLst/>
          </a:prstGeom>
          <a:solidFill>
            <a:srgbClr val="F79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73752" y="3447288"/>
            <a:ext cx="38862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61A2E"/>
                </a:solidFill>
                <a:latin typeface="Calibri"/>
              </a:rPr>
              <a:t>Você SERÁ perguntado sobre Big O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Conhecer Merge Sort / Binary Search = diferencial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7293"/>
                </a:solidFill>
                <a:latin typeface="Calibri"/>
              </a:rPr>
              <a:t>Sênior vs Júnior começa aqui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" y="486232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1" dirty="0">
                <a:solidFill>
                  <a:srgbClr val="1C7293"/>
                </a:solidFill>
                <a:latin typeface="Calibri"/>
              </a:rPr>
              <a:t>✅ 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Entender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a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complexidade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dos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algoritmos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da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stdlib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torna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você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um dev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muito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mais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250" b="1" i="1" dirty="0" err="1">
                <a:solidFill>
                  <a:srgbClr val="1C7293"/>
                </a:solidFill>
                <a:latin typeface="Calibri"/>
              </a:rPr>
              <a:t>sólido</a:t>
            </a:r>
            <a:r>
              <a:rPr sz="1250" b="1" i="1" dirty="0">
                <a:solidFill>
                  <a:srgbClr val="1C7293"/>
                </a:solidFill>
                <a:latin typeface="Calibri"/>
              </a:rPr>
              <a:t>.</a:t>
            </a:r>
          </a:p>
        </p:txBody>
      </p:sp>
      <p:pic>
        <p:nvPicPr>
          <p:cNvPr id="32" name="Picture 4">
            <a:extLst>
              <a:ext uri="{FF2B5EF4-FFF2-40B4-BE49-F238E27FC236}">
                <a16:creationId xmlns:a16="http://schemas.microsoft.com/office/drawing/2014/main" id="{7BEF76B4-90FA-06E0-340F-5FB830286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44163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1" y="82296"/>
            <a:ext cx="2684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rebuchet MS"/>
              </a:rPr>
              <a:t>POR QUE APRENDER  · 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Razão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Você escolhe a ferramenta certa para o problema certo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9611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CE8"/>
                </a:solidFill>
                <a:latin typeface="Calibri"/>
              </a:rPr>
              <a:t>A stdlib tem várias opções — mas cada uma tem um custo diferente.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4206240" cy="256032"/>
          </a:xfrm>
          <a:prstGeom prst="rect">
            <a:avLst/>
          </a:prstGeom>
          <a:solidFill>
            <a:srgbClr val="6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Trebuchet MS"/>
              </a:rPr>
              <a:t>❌  O(n log n)  — ordena TUDO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36192"/>
            <a:ext cx="4206240" cy="80467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4206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27632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Quer apenas os 5 menores de 10M números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menores = </a:t>
            </a:r>
            <a:r>
              <a:rPr sz="1150">
                <a:solidFill>
                  <a:srgbClr val="DCDCAA"/>
                </a:solidFill>
                <a:latin typeface="Consolas"/>
              </a:rPr>
              <a:t>sorted</a:t>
            </a:r>
            <a:r>
              <a:rPr sz="1150">
                <a:solidFill>
                  <a:srgbClr val="D4D4D4"/>
                </a:solidFill>
                <a:latin typeface="Consolas"/>
              </a:rPr>
              <a:t>(dados)[:</a:t>
            </a:r>
            <a:r>
              <a:rPr sz="1150">
                <a:solidFill>
                  <a:srgbClr val="B5CEA8"/>
                </a:solidFill>
                <a:latin typeface="Consolas"/>
              </a:rPr>
              <a:t>5</a:t>
            </a:r>
            <a:r>
              <a:rPr sz="1150">
                <a:solidFill>
                  <a:srgbClr val="D4D4D4"/>
                </a:solidFill>
                <a:latin typeface="Consolas"/>
              </a:rPr>
              <a:t>]  </a:t>
            </a:r>
            <a:r>
              <a:rPr sz="1150">
                <a:solidFill>
                  <a:srgbClr val="6A9955"/>
                </a:solidFill>
                <a:latin typeface="Consolas"/>
              </a:rPr>
              <a:t># ordena tudo!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40"/>
            <a:ext cx="4206240" cy="256032"/>
          </a:xfrm>
          <a:prstGeom prst="rect">
            <a:avLst/>
          </a:prstGeom>
          <a:solidFill>
            <a:srgbClr val="06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Trebuchet MS"/>
              </a:rPr>
              <a:t>✅  O(n log k)  — muito mais rápido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51760"/>
            <a:ext cx="4206240" cy="9144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4206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39319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import</a:t>
            </a:r>
            <a:r>
              <a:rPr sz="1150">
                <a:solidFill>
                  <a:srgbClr val="D4D4D4"/>
                </a:solidFill>
                <a:latin typeface="Consolas"/>
              </a:rPr>
              <a:t> heapq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Heap busca os k menores sem ordenar tudo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menores = heapq.nsmallest(</a:t>
            </a:r>
            <a:r>
              <a:rPr sz="1150">
                <a:solidFill>
                  <a:srgbClr val="B5CEA8"/>
                </a:solidFill>
                <a:latin typeface="Consolas"/>
              </a:rPr>
              <a:t>5</a:t>
            </a:r>
            <a:r>
              <a:rPr sz="1150">
                <a:solidFill>
                  <a:srgbClr val="D4D4D4"/>
                </a:solidFill>
                <a:latin typeface="Consolas"/>
              </a:rPr>
              <a:t>, dados)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256032"/>
          </a:xfrm>
          <a:prstGeom prst="rect">
            <a:avLst/>
          </a:prstGeom>
          <a:solidFill>
            <a:srgbClr val="6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12618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Trebuchet MS"/>
              </a:rPr>
              <a:t>❌  O(n)  — busca linear em lista ordenada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536192"/>
            <a:ext cx="4160520" cy="80467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1536192"/>
            <a:ext cx="4160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1627632"/>
            <a:ext cx="3886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Python não sabe que está ordenada!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B5CEA8"/>
                </a:solidFill>
                <a:latin typeface="Consolas"/>
              </a:rPr>
              <a:t>22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569CD6"/>
                </a:solidFill>
                <a:latin typeface="Consolas"/>
              </a:rPr>
              <a:t>in</a:t>
            </a:r>
            <a:r>
              <a:rPr sz="1150">
                <a:solidFill>
                  <a:srgbClr val="D4D4D4"/>
                </a:solidFill>
                <a:latin typeface="Consolas"/>
              </a:rPr>
              <a:t> lista_ordenada:  </a:t>
            </a:r>
            <a:r>
              <a:rPr sz="1150">
                <a:solidFill>
                  <a:srgbClr val="6A9955"/>
                </a:solidFill>
                <a:latin typeface="Consolas"/>
              </a:rPr>
              <a:t># O(n)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DCDCAA"/>
                </a:solidFill>
                <a:latin typeface="Consolas"/>
              </a:rPr>
              <a:t>print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CE9178"/>
                </a:solidFill>
                <a:latin typeface="Consolas"/>
              </a:rPr>
              <a:t>'achou'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4160520" cy="256032"/>
          </a:xfrm>
          <a:prstGeom prst="rect">
            <a:avLst/>
          </a:prstGeom>
          <a:solidFill>
            <a:srgbClr val="06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23774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Trebuchet MS"/>
              </a:rPr>
              <a:t>✅  O(log n)  — usa bisect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651760"/>
            <a:ext cx="4160520" cy="914400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2651760"/>
            <a:ext cx="4160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2743200"/>
            <a:ext cx="38862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import</a:t>
            </a:r>
            <a:r>
              <a:rPr sz="1150">
                <a:solidFill>
                  <a:srgbClr val="D4D4D4"/>
                </a:solidFill>
                <a:latin typeface="Consolas"/>
              </a:rPr>
              <a:t> bisect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pos = bisect.bisect_left(lista_ordenada, </a:t>
            </a:r>
            <a:r>
              <a:rPr sz="1150">
                <a:solidFill>
                  <a:srgbClr val="B5CEA8"/>
                </a:solidFill>
                <a:latin typeface="Consolas"/>
              </a:rPr>
              <a:t>22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achou = (lista_ordenada[pos] == </a:t>
            </a:r>
            <a:r>
              <a:rPr sz="1150">
                <a:solidFill>
                  <a:srgbClr val="B5CEA8"/>
                </a:solidFill>
                <a:latin typeface="Consolas"/>
              </a:rPr>
              <a:t>22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Você diz que está ordenada → O(log 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03320"/>
            <a:ext cx="8503920" cy="658368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7673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💡  A lib não decide por você. Só você sabe que a lista está ordenada — e pode usar Busca Binária.</a:t>
            </a: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6ADBF34B-0563-F48F-E5FF-EE165984BB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017892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1" y="82296"/>
            <a:ext cx="29018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rebuchet MS"/>
              </a:rPr>
              <a:t>POR QUE APRENDER  ·  </a:t>
            </a:r>
            <a:r>
              <a:rPr sz="1100" b="1" i="0" dirty="0" err="1">
                <a:solidFill>
                  <a:srgbClr val="FFFFFF"/>
                </a:solidFill>
                <a:latin typeface="Trebuchet MS"/>
              </a:rPr>
              <a:t>Razão</a:t>
            </a:r>
            <a:r>
              <a:rPr sz="1100" b="1" i="0" dirty="0">
                <a:solidFill>
                  <a:srgbClr val="FFFFFF"/>
                </a:solidFill>
                <a:latin typeface="Trebuchet MS"/>
              </a:rPr>
              <a:t>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50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Trebuchet MS"/>
              </a:rPr>
              <a:t>Big O é a linguagem comum usada para medir eficiência.</a:t>
            </a:r>
            <a:endParaRPr sz="2000" b="1" i="0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0CCE8"/>
                </a:solidFill>
                <a:latin typeface="Calibri"/>
              </a:rPr>
              <a:t>Saber dizer a complexidade separa o dev médio do dev sênior — em code review, entrevistas e arquitetura.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206240" cy="274320"/>
          </a:xfrm>
          <a:prstGeom prst="rect">
            <a:avLst/>
          </a:prstGeom>
          <a:solidFill>
            <a:srgbClr val="6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76F"/>
                </a:solidFill>
                <a:latin typeface="Trebuchet MS"/>
              </a:rPr>
              <a:t>❌  O(n²)  — Matchmaking ingênuo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91056"/>
            <a:ext cx="4206240" cy="162763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591056"/>
            <a:ext cx="4206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82496"/>
            <a:ext cx="3931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def</a:t>
            </a:r>
            <a:r>
              <a:rPr sz="1150">
                <a:solidFill>
                  <a:srgbClr val="D4D4D4"/>
                </a:solidFill>
                <a:latin typeface="Consolas"/>
              </a:rPr>
              <a:t> encontrar_par_ruim(jogadores):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for</a:t>
            </a:r>
            <a:r>
              <a:rPr sz="1150">
                <a:solidFill>
                  <a:srgbClr val="D4D4D4"/>
                </a:solidFill>
                <a:latin typeface="Consolas"/>
              </a:rPr>
              <a:t> j1 </a:t>
            </a:r>
            <a:r>
              <a:rPr sz="1150">
                <a:solidFill>
                  <a:srgbClr val="569CD6"/>
                </a:solidFill>
                <a:latin typeface="Consolas"/>
              </a:rPr>
              <a:t>in</a:t>
            </a:r>
            <a:r>
              <a:rPr sz="1150">
                <a:solidFill>
                  <a:srgbClr val="D4D4D4"/>
                </a:solidFill>
                <a:latin typeface="Consolas"/>
              </a:rPr>
              <a:t> jogadores:     </a:t>
            </a:r>
            <a:r>
              <a:rPr sz="1150">
                <a:solidFill>
                  <a:srgbClr val="6A9955"/>
                </a:solidFill>
                <a:latin typeface="Consolas"/>
              </a:rPr>
              <a:t># O(n)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for</a:t>
            </a:r>
            <a:r>
              <a:rPr sz="1150">
                <a:solidFill>
                  <a:srgbClr val="D4D4D4"/>
                </a:solidFill>
                <a:latin typeface="Consolas"/>
              </a:rPr>
              <a:t> j2 </a:t>
            </a:r>
            <a:r>
              <a:rPr sz="1150">
                <a:solidFill>
                  <a:srgbClr val="569CD6"/>
                </a:solidFill>
                <a:latin typeface="Consolas"/>
              </a:rPr>
              <a:t>in</a:t>
            </a:r>
            <a:r>
              <a:rPr sz="1150">
                <a:solidFill>
                  <a:srgbClr val="D4D4D4"/>
                </a:solidFill>
                <a:latin typeface="Consolas"/>
              </a:rPr>
              <a:t> jogadores: </a:t>
            </a:r>
            <a:r>
              <a:rPr sz="1150">
                <a:solidFill>
                  <a:srgbClr val="6A9955"/>
                </a:solidFill>
                <a:latin typeface="Consolas"/>
              </a:rPr>
              <a:t># O(n²) total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569CD6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compativel(j1, j2):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j1, j2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A8FF78"/>
                </a:solidFill>
                <a:latin typeface="Consolas"/>
              </a:rPr>
              <a:t># 10.000 jogadores → 100.000.000 ops!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98448"/>
            <a:ext cx="4160520" cy="274320"/>
          </a:xfrm>
          <a:prstGeom prst="rect">
            <a:avLst/>
          </a:prstGeom>
          <a:solidFill>
            <a:srgbClr val="06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  <a:latin typeface="Trebuchet MS"/>
              </a:rPr>
              <a:t>✅  O(n log n)  — Matchmaking eficiente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591056"/>
            <a:ext cx="4160520" cy="162763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591056"/>
            <a:ext cx="4160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682496"/>
            <a:ext cx="3886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1. Ordena por ranking — O(n log n)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jogadores_ord = </a:t>
            </a:r>
            <a:r>
              <a:rPr sz="1150">
                <a:solidFill>
                  <a:srgbClr val="DCDCAA"/>
                </a:solidFill>
                <a:latin typeface="Consolas"/>
              </a:rPr>
              <a:t>sorted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jogadores, key=</a:t>
            </a:r>
            <a:r>
              <a:rPr sz="1150">
                <a:solidFill>
                  <a:srgbClr val="569CD6"/>
                </a:solidFill>
                <a:latin typeface="Consolas"/>
              </a:rPr>
              <a:t>lambda</a:t>
            </a:r>
            <a:r>
              <a:rPr sz="1150">
                <a:solidFill>
                  <a:srgbClr val="D4D4D4"/>
                </a:solidFill>
                <a:latin typeface="Consolas"/>
              </a:rPr>
              <a:t> j: j.ranking)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2. Busca binária pelo mais próximo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pos = bisect.bisect_left(rankings, r)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O(log n) por jogador → O(n log n)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37560"/>
            <a:ext cx="8503920" cy="777240"/>
          </a:xfrm>
          <a:prstGeom prst="rect">
            <a:avLst/>
          </a:prstGeom>
          <a:solidFill>
            <a:srgbClr val="06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411480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FFC300"/>
                </a:solidFill>
                <a:latin typeface="Calibri"/>
              </a:rPr>
              <a:t>Em </a:t>
            </a:r>
            <a:r>
              <a:rPr sz="1300" b="1" dirty="0" err="1">
                <a:solidFill>
                  <a:srgbClr val="FFC300"/>
                </a:solidFill>
                <a:latin typeface="Calibri"/>
              </a:rPr>
              <a:t>entrevista</a:t>
            </a:r>
            <a:r>
              <a:rPr sz="1300" b="1" dirty="0">
                <a:solidFill>
                  <a:srgbClr val="FFC30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C300"/>
                </a:solidFill>
                <a:latin typeface="Calibri"/>
              </a:rPr>
              <a:t>técnica</a:t>
            </a:r>
            <a:r>
              <a:rPr sz="1300" b="1" dirty="0">
                <a:solidFill>
                  <a:srgbClr val="FFC300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Entrevistador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: "Qual a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complexidade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?"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01568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EF476F"/>
                </a:solidFill>
                <a:latin typeface="Calibri"/>
              </a:rPr>
              <a:t>❌  "Funciona, testei aqui"  →  entrevista encerrada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6D6A0"/>
                </a:solidFill>
                <a:latin typeface="Calibri"/>
              </a:rPr>
              <a:t>✅  "O(n log n): ordenação + busca binária"  →  próxima fase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10.000 jogadores:  ❌ 100.000.000 ops  vs  ✅ ~130.000 ops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0196A1EA-BCFC-7CBA-CF5A-735D2EA06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39" y="73152"/>
            <a:ext cx="2891511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1" y="82296"/>
            <a:ext cx="27802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POR QUE APRENDER  ·  Razão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Os algoritmos ensinam a PENSAR, não só a programar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0CCE8"/>
                </a:solidFill>
                <a:latin typeface="Calibri"/>
              </a:rPr>
              <a:t>O raciocínio da Busca Binária — eliminar metade a cada passo — aparece em todo lugar.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420624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🔍  git bisect — achar o commit com bug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4206240" cy="217627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4206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3931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100 commits → máx. 7 testes!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def</a:t>
            </a:r>
            <a:r>
              <a:rPr sz="1150">
                <a:solidFill>
                  <a:srgbClr val="D4D4D4"/>
                </a:solidFill>
                <a:latin typeface="Consolas"/>
              </a:rPr>
              <a:t> git_bisect(commits, tem_bug):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esq, dir = </a:t>
            </a:r>
            <a:r>
              <a:rPr sz="1150">
                <a:solidFill>
                  <a:srgbClr val="B5CEA8"/>
                </a:solidFill>
                <a:latin typeface="Consolas"/>
              </a:rPr>
              <a:t>0</a:t>
            </a:r>
            <a:r>
              <a:rPr sz="1150">
                <a:solidFill>
                  <a:srgbClr val="D4D4D4"/>
                </a:solidFill>
                <a:latin typeface="Consolas"/>
              </a:rPr>
              <a:t>, </a:t>
            </a:r>
            <a:r>
              <a:rPr sz="1150">
                <a:solidFill>
                  <a:srgbClr val="DCDCAA"/>
                </a:solidFill>
                <a:latin typeface="Consolas"/>
              </a:rPr>
              <a:t>len</a:t>
            </a:r>
            <a:r>
              <a:rPr sz="1150">
                <a:solidFill>
                  <a:srgbClr val="D4D4D4"/>
                </a:solidFill>
                <a:latin typeface="Consolas"/>
              </a:rPr>
              <a:t>(commits) -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while</a:t>
            </a:r>
            <a:r>
              <a:rPr sz="1150">
                <a:solidFill>
                  <a:srgbClr val="D4D4D4"/>
                </a:solidFill>
                <a:latin typeface="Consolas"/>
              </a:rPr>
              <a:t> esq &lt; dir: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meio = (esq + dir) // </a:t>
            </a:r>
            <a:r>
              <a:rPr sz="1150">
                <a:solidFill>
                  <a:srgbClr val="B5CEA8"/>
                </a:solidFill>
                <a:latin typeface="Consolas"/>
              </a:rPr>
              <a:t>2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tem_bug(commits[meio]):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dir = meio   </a:t>
            </a:r>
            <a:r>
              <a:rPr sz="1150">
                <a:solidFill>
                  <a:srgbClr val="6A9955"/>
                </a:solidFill>
                <a:latin typeface="Consolas"/>
              </a:rPr>
              <a:t># bug já existe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else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esq = meio +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  </a:t>
            </a:r>
            <a:r>
              <a:rPr sz="1150">
                <a:solidFill>
                  <a:srgbClr val="6A9955"/>
                </a:solidFill>
                <a:latin typeface="Consolas"/>
              </a:rPr>
              <a:t># sem bug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commits[esq]  </a:t>
            </a:r>
            <a:r>
              <a:rPr sz="1150">
                <a:solidFill>
                  <a:srgbClr val="6A9955"/>
                </a:solidFill>
                <a:latin typeface="Consolas"/>
              </a:rPr>
              <a:t># culpado!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61872"/>
            <a:ext cx="4160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261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⚙️  Busca binária para otimizar timeout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554480"/>
            <a:ext cx="4160520" cy="2176272"/>
          </a:xfrm>
          <a:prstGeom prst="rect">
            <a:avLst/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554480"/>
            <a:ext cx="4160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645920"/>
            <a:ext cx="388620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 Menor timeout viável num sistema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569CD6"/>
                </a:solidFill>
                <a:latin typeface="Consolas"/>
              </a:rPr>
              <a:t>def</a:t>
            </a:r>
            <a:r>
              <a:rPr sz="1150">
                <a:solidFill>
                  <a:srgbClr val="D4D4D4"/>
                </a:solidFill>
                <a:latin typeface="Consolas"/>
              </a:rPr>
              <a:t> menor_timeout(sistema, mn=</a:t>
            </a:r>
            <a:r>
              <a:rPr sz="1150">
                <a:solidFill>
                  <a:srgbClr val="B5CEA8"/>
                </a:solidFill>
                <a:latin typeface="Consolas"/>
              </a:rPr>
              <a:t>100</a:t>
            </a:r>
            <a:r>
              <a:rPr sz="1150">
                <a:solidFill>
                  <a:srgbClr val="D4D4D4"/>
                </a:solidFill>
                <a:latin typeface="Consolas"/>
              </a:rPr>
              <a:t>, mx=</a:t>
            </a:r>
            <a:r>
              <a:rPr sz="1150">
                <a:solidFill>
                  <a:srgbClr val="B5CEA8"/>
                </a:solidFill>
                <a:latin typeface="Consolas"/>
              </a:rPr>
              <a:t>5000</a:t>
            </a:r>
            <a:r>
              <a:rPr sz="1150">
                <a:solidFill>
                  <a:srgbClr val="D4D4D4"/>
                </a:solidFill>
                <a:latin typeface="Consolas"/>
              </a:rPr>
              <a:t>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while</a:t>
            </a:r>
            <a:r>
              <a:rPr sz="1150">
                <a:solidFill>
                  <a:srgbClr val="D4D4D4"/>
                </a:solidFill>
                <a:latin typeface="Consolas"/>
              </a:rPr>
              <a:t> mn &lt; mx: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meio = (mn + mx) // </a:t>
            </a:r>
            <a:r>
              <a:rPr sz="1150">
                <a:solidFill>
                  <a:srgbClr val="B5CEA8"/>
                </a:solidFill>
                <a:latin typeface="Consolas"/>
              </a:rPr>
              <a:t>2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sistema.ok(meio):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mx = meio    </a:t>
            </a:r>
            <a:r>
              <a:rPr sz="1150">
                <a:solidFill>
                  <a:srgbClr val="6A9955"/>
                </a:solidFill>
                <a:latin typeface="Consolas"/>
              </a:rPr>
              <a:t># tenta menor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569CD6"/>
                </a:solidFill>
                <a:latin typeface="Consolas"/>
              </a:rPr>
              <a:t>else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        mn = meio +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  </a:t>
            </a:r>
            <a:r>
              <a:rPr sz="1150">
                <a:solidFill>
                  <a:srgbClr val="6A9955"/>
                </a:solidFill>
                <a:latin typeface="Consolas"/>
              </a:rPr>
              <a:t># aumenta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569CD6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mn  </a:t>
            </a:r>
            <a:r>
              <a:rPr sz="1150">
                <a:solidFill>
                  <a:srgbClr val="6A9955"/>
                </a:solidFill>
                <a:latin typeface="Consolas"/>
              </a:rPr>
              <a:t># mínimo que funciona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58768"/>
            <a:ext cx="8503920" cy="868680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858768"/>
            <a:ext cx="54864" cy="8686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6D6A0"/>
                </a:solidFill>
                <a:latin typeface="Calibri"/>
              </a:rPr>
              <a:t>Mesmo raciocínio. Contextos diferentes.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Busca Binária → git bisect → otimização de sistema → A/B testing → debugging.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A0CCE8"/>
                </a:solidFill>
                <a:latin typeface="Calibri"/>
              </a:rPr>
              <a:t>Isso é transferência de conhecimento — o objetivo real de qualquer formação técnica.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665B8146-FE8A-B519-76BD-90E005DC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295656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2842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FECHAMENTO  ·  O que aprendemos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Resumo da aula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029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Busca 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17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O(n) — simples, sem pré-requisito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1115568"/>
            <a:ext cx="50292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1115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152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Busca Binária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517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O(log n) — rápida, lista deve ser ordenada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58568"/>
            <a:ext cx="502920" cy="7772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258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95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Bubble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6090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O(n²) — didático, não usar em produção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258568"/>
            <a:ext cx="502920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2258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95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Merge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6090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O(n log n) — base do sorted() do 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01568"/>
            <a:ext cx="502920" cy="7772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38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Big 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03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Linguagem universal para comparar algoritmos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79" y="3401568"/>
            <a:ext cx="50292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79" y="3401568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38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03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8CCE8"/>
                </a:solidFill>
                <a:latin typeface="Calibri"/>
              </a:rPr>
              <a:t>Timsort, B-Trees, bisect são o padrão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590288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1">
                <a:solidFill>
                  <a:srgbClr val="061A2E"/>
                </a:solidFill>
                <a:latin typeface="Calibri"/>
              </a:rPr>
              <a:t>"Ordenar uma vez e buscar com eficiência — esse é o padrão de todo sistema escalável."</a:t>
            </a: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E2E05E4C-7625-8FF4-8626-C86D7CE7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"/>
            <a:ext cx="374904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82296"/>
            <a:ext cx="36048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PRÓXIMOS PASSOS  ·  Para continuar aprendendo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Quer se aprofundar?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612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143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Trebuchet MS"/>
              </a:rPr>
              <a:t>Visualgo.net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904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CCEE"/>
                </a:solidFill>
                <a:latin typeface="Calibri"/>
              </a:rPr>
              <a:t>Visualizações animadas de algoritmos — gratuito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8412480" cy="77724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947672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Trebuchet MS"/>
              </a:rPr>
              <a:t>LeetCode — Easy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8658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CCEE"/>
                </a:solidFill>
                <a:latin typeface="Calibri"/>
              </a:rPr>
              <a:t>Problemas: Two Sum, Binary Search, Sort Colors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8412480" cy="77724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843784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535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35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Trebuchet MS"/>
              </a:rPr>
              <a:t>Python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8269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CCEE"/>
                </a:solidFill>
                <a:latin typeface="Calibri"/>
              </a:rPr>
              <a:t>bisect, heapq, sorted() com key= — documentação oficial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39896"/>
            <a:ext cx="8412480" cy="77724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39896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49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Trebuchet MS"/>
              </a:rPr>
              <a:t>CS50 Harvard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1788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CCEE"/>
                </a:solidFill>
                <a:latin typeface="Calibri"/>
              </a:rPr>
              <a:t>Aula de algoritmos no YouTube — grátis e legendado em 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C300"/>
                </a:solidFill>
                <a:latin typeface="Calibri"/>
              </a:rPr>
              <a:t>🏋️  Desafio: implemente a Busca Binária sem consultar o slide. Depois cronometro!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8B533D13-96D7-5523-D97D-6EE5FF252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91401" y="106045"/>
            <a:ext cx="1747492" cy="749731"/>
          </a:xfrm>
          <a:prstGeom prst="rect">
            <a:avLst/>
          </a:prstGeom>
          <a:solidFill>
            <a:srgbClr val="FFFFFF"/>
          </a:solidFill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2073</Words>
  <Application>Microsoft Office PowerPoint</Application>
  <PresentationFormat>Apresentação na tela (16:9)</PresentationFormat>
  <Paragraphs>344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Victor Tavares Neto</cp:lastModifiedBy>
  <cp:revision>2</cp:revision>
  <dcterms:created xsi:type="dcterms:W3CDTF">2013-01-27T09:14:16Z</dcterms:created>
  <dcterms:modified xsi:type="dcterms:W3CDTF">2026-04-30T02:53:50Z</dcterms:modified>
  <cp:category/>
</cp:coreProperties>
</file>